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4081760" cy="1371600"/>
          </a:xfrm>
          <a:prstGeom prst="roundRect">
            <a:avLst/>
          </a:prstGeom>
          <a:solidFill>
            <a:srgbClr val="0F1A2E"/>
          </a:solidFill>
          <a:ln w="2540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274320" rIns="274320"/>
          <a:lstStyle/>
          <a:p>
            <a:pPr algn="ctr">
              <a:defRPr sz="1000" b="1">
                <a:solidFill>
                  <a:srgbClr val="EBCD82"/>
                </a:solidFill>
              </a:defRPr>
            </a:pPr>
            <a:r>
              <a:t>DATABASE SYSTEMS ENGINEERING AND DISTRIBUTED BACKEND DEVELOPMENT (25CS1302E) · KLH BACHUPALLY CSE · PBL 2026-27</a:t>
            </a: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t>BOOKVERSE: An Immersive 3D Interactive Digital Library &amp; Distributed Social Reading Platform</a:t>
            </a:r>
          </a:p>
          <a:p>
            <a:pPr algn="ctr">
              <a:defRPr sz="1050" b="0">
                <a:solidFill>
                  <a:srgbClr val="F1F5F9"/>
                </a:solidFill>
              </a:defRPr>
            </a:pPr>
            <a:r>
              <a:t>Team ID: BV-PBL-042  |  Section: S-14 (CSE)  |  Author: J. SAI SATYAN  |  Guide: Dr. K. V. Ramanathan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719072"/>
            <a:ext cx="3364992" cy="201168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ABSTRACT</a:t>
            </a:r>
          </a:p>
          <a:p>
            <a:pPr>
              <a:defRPr sz="880">
                <a:solidFill>
                  <a:srgbClr val="F1F5F9"/>
                </a:solidFill>
              </a:defRPr>
            </a:pPr>
            <a:r>
              <a:t>BookVerse is an end-to-end full-stack literary ecosystem designed for bibliophiles and researchers. It bridges high-performance relational database management with modern web engineering, replacing lifeless 2D catalogs with an immersive reading portal.</a:t>
            </a:r>
          </a:p>
          <a:p>
            <a:pPr>
              <a:defRPr sz="880">
                <a:solidFill>
                  <a:srgbClr val="94A3B8"/>
                </a:solidFill>
              </a:defRPr>
            </a:pPr>
            <a:r>
              <a:t>Powered by an asynchronous FastAPI (Python) REST gateway, an optimized MySQL 8.0 (InnoDB) database, and a React 18 client featuring 3D scroll-turn canvas physics with realistic stationery.</a:t>
            </a:r>
          </a:p>
          <a:p>
            <a:pPr>
              <a:defRPr sz="880" b="1">
                <a:solidFill>
                  <a:srgbClr val="22C55E"/>
                </a:solidFill>
              </a:defRPr>
            </a:pPr>
            <a:r>
              <a:t>Key Outcome: Eliminates catalog latency, guarantees complete referential integrity, and provides tactile physical book nostalgia.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840480"/>
            <a:ext cx="3364992" cy="41148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PROBLEM &amp; OBJECTIVES</a:t>
            </a:r>
          </a:p>
          <a:p>
            <a:pPr>
              <a:defRPr sz="860">
                <a:solidFill>
                  <a:srgbClr val="F1F5F9"/>
                </a:solidFill>
              </a:defRPr>
            </a:pPr>
            <a:r>
              <a:t>Problem: Existing platforms (Goodreads, Calibre) suffer from outdated interfaces, sluggish monolithic queries, ad clutter, detached shelf tracking, and brittle external cover hotlinks (HTTP 404).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1: Relational Scalability: 3NF MySQL schema with foreign-key cascades for 58+ classic volumes.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2: High-Speed REST API: FastAPI ASGI service delivering sub-35ms CRUD endpoints with Pydantic validation.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3: 3D Skeuomorphic UI: Interactive open-tome scroll canvas with dynamic leaf flippers and realistic pencils.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4: Shelf Lifecycle: Live reading progress percentage sliders and community critique boards.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Scope &amp; Boundaries: Users: Readers &amp; researchers. Modules: Discovery, Shelf, Reviews, Rituals, AI Oracle.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719072"/>
            <a:ext cx="3364992" cy="265176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EXISTING VS PROPOSED SYSTEM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Visual Immersion: 3D Open Tome with scroll-turn animations (vs. Static 2D flat lists, heavy ad clutter)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Cover Delivery: 100% Local uploads cache (58/58 books) (vs. External CDN links prone to 404s)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Backend Architecture: Asynchronous FastAPI ASGI (&lt;35ms latency) (vs. Monolithic blocking queries)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Reading Progress: Real-time interactive sliders with instant sync (vs. Rigid text counters; manual submit)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Visual Curation: Pinterest-style Dark Academia mood boards (vs. Generic checkboxes)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Gap Solved: Bridges digital speed with paper nostalgia (vs. Tools feel like spreadsheets)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480560"/>
            <a:ext cx="3364992" cy="347472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FEASIBILITY &amp; TECHNOLOGIES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Technical Feasibility: Python 3.12, FastAPI, SQLAlchemy ORM, MySQL 8.0, React 18, CSS3 3D.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Economic Feasibility: 100% open-source stack with zero licensing fees; runs on commodity servers.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Operational Feasibility: Intuitive chapter navigation; dark &amp; light parchment modes; zero learning curve.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Schedule Feasibility: Completed across 5 structured sprints within the academic semester.</a:t>
            </a:r>
          </a:p>
          <a:p>
            <a:pPr>
              <a:defRPr sz="880" b="1">
                <a:solidFill>
                  <a:srgbClr val="EBCD82"/>
                </a:solidFill>
              </a:defRPr>
            </a:pPr>
            <a:r>
              <a:t>TECH STACK HIGHLIGHTS: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Frontend: React 18, Vite 8.3, React Router 6, Canvas API</a:t>
            </a:r>
            <a:br/>
            <a:r>
              <a:t>Backend: FastAPI, Uvicorn, SQLAlchemy 2.0, Pydantic v2</a:t>
            </a:r>
            <a:br/>
            <a:r>
              <a:t>Database: MySQL 8.0 InnoDB, utf8mb4 collation, PyMySQL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719072"/>
            <a:ext cx="3364992" cy="292608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3-TIER SYSTEM ARCHITECTURE</a:t>
            </a:r>
          </a:p>
          <a:p>
            <a:pPr>
              <a:defRPr sz="819">
                <a:solidFill>
                  <a:srgbClr val="EBCD82"/>
                </a:solidFill>
              </a:defRPr>
            </a:pPr>
            <a:r>
              <a:t>CLIENT PRESENTATION TIER (React 18 + Vite :5173)</a:t>
            </a:r>
            <a:br/>
            <a:r>
              <a:t>• 3D Open Tome Canvas Engine · Bookmark Ribbon Nav · Shelf Sliders</a:t>
            </a:r>
            <a:br/>
            <a:r>
              <a:t>⇅ JSON REST APIs (HTTP / CORS Enabled) ⇅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APPLICATION CONTROLLER TIER (FastAPI + ASGI :8000)</a:t>
            </a:r>
            <a:br/>
            <a:r>
              <a:t>• Uvicorn ASGI Server · Pydantic Validation · Static File Mount</a:t>
            </a:r>
            <a:br/>
            <a:r>
              <a:t>• SQLAlchemy ORM Session Pool (SessionLocal)</a:t>
            </a:r>
            <a:br/>
            <a:r>
              <a:t>⇅ SQL Parameterized Statements / Connection Pool ⇅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PERSISTENCE STORAGE TIER (MySQL 8.0 :3306)</a:t>
            </a:r>
            <a:br/>
            <a:r>
              <a:t>• InnoDB Engine (bookverse_db) · UTF8MB4 · Foreign Key Cascades</a:t>
            </a:r>
            <a:br/>
            <a:r>
              <a:t>• Local File System Storage (/uploads/*.jpg - 58 Verified Covers)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754880"/>
            <a:ext cx="3364992" cy="32004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RELATIONAL ER DESIGN (3NF)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[USERS]</a:t>
            </a:r>
            <a:br/>
            <a:r>
              <a:t>PK: user_id (UUID), username (UQ), email (UQ), password_hash, created_at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[BOOKS]</a:t>
            </a:r>
            <a:br/>
            <a:r>
              <a:t>PK: book_id (UUID), title (IDX), author, isbn (UQ), price, cover_image_url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[REVIEWS]</a:t>
            </a:r>
            <a:br/>
            <a:r>
              <a:t>PK: review_id (UUID), FK: user_id (CASCADE), FK: book_id (CASCADE), rating (1..5), review_text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[READING_LIST]</a:t>
            </a:r>
            <a:br/>
            <a:r>
              <a:t>PK: list_id (UUID), FK: user_id (CASCADE), FK: book_id (CASCADE), status: ENUM('want', 'reading', 'completed')</a:t>
            </a:r>
          </a:p>
          <a:p>
            <a:pPr>
              <a:defRPr sz="800">
                <a:solidFill>
                  <a:srgbClr val="EBCD82"/>
                </a:solidFill>
              </a:defRPr>
            </a:pPr>
            <a:r>
              <a:t>Integrity Rules: Normalized to 3NF; ON DELETE CASCADE eliminates orphaned records; B-tree indexing on title ensures O(log N)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1719072"/>
            <a:ext cx="3364992" cy="265176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RESULTS &amp; TEST METRICS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API Response Latency: &lt; 35 ms — Benchmarked across all CRUD routes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Catalog Scale: 58 Volumes — 48 Classics + 10 Contemporary books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Cover Availability: 100% Local — 58/58 Verified in /uploads/ with 200 OK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SQL Injection Shield: 0 Vulnerabilities — 100% Parameterized ORM queries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Referential Integrity: 0 Orphan Rows — Strict foreign key cascading verified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Client Animation: 60 FPS — Hardware-accelerated CSS3 transforms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4480560"/>
            <a:ext cx="3364992" cy="347472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CONCLUSION &amp; FUTURE SCOPE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Conclusion: BookVerse fulfills all curriculum criteria by implementing an enterprise-grade distributed library system. Combining an ACID-compliant MySQL database with FastAPI's asynchronous speed and a 3D tactile paper scroll environment proves how modern database systems empower engaging consumer web software.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Future Enhancements:</a:t>
            </a:r>
            <a:br/>
            <a:r>
              <a:t>• WebSocket Co-Reading: Live shared reading rooms with annotations.</a:t>
            </a:r>
            <a:br/>
            <a:r>
              <a:t>• Vector Search (RAG): AI semantic trope and mood matching.</a:t>
            </a:r>
            <a:br/>
            <a:r>
              <a:t>• Progressive Web App (PWA): Offline shelf sync with IndexedDB.</a:t>
            </a:r>
          </a:p>
          <a:p>
            <a:pPr>
              <a:defRPr sz="760">
                <a:solidFill>
                  <a:srgbClr val="EBCD82"/>
                </a:solidFill>
              </a:defRPr>
            </a:pPr>
            <a:r>
              <a:t>References:</a:t>
            </a:r>
            <a:br/>
            <a:r>
              <a:t>[1] R. Elmasri &amp; S. Navathe, Fundamentals of Database Systems, 2016.</a:t>
            </a:r>
            <a:br/>
            <a:r>
              <a:t>[2] S. Ramírez, FastAPI Modern Python Web APIs, 2023.</a:t>
            </a:r>
            <a:br/>
            <a:r>
              <a:t>[3] MySQL 8.0 Reference Manual: InnoDB Engine Architecture, 2026.</a:t>
            </a:r>
            <a:br/>
            <a:r>
              <a:t>QR Repository: https://github.com/KLH-Bachupally-CSE/BookVerse-PBL-2026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