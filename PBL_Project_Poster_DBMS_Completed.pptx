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0693908" cy="15137892"/>
  <p:notesSz cx="15137892" cy="1069390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693908" cy="1920240"/>
          </a:xfrm>
          <a:prstGeom prst="rect">
            <a:avLst/>
          </a:prstGeom>
          <a:solidFill>
            <a:srgbClr val="5B21B6"/>
          </a:solidFill>
          <a:ln w="12700">
            <a:solidFill>
              <a:srgbClr val="5B21B6"/>
            </a:solidFill>
            <a:prstDash val="solid"/>
          </a:ln>
        </p:spPr>
        <p:txBody>
          <a:bodyPr/>
          <a:p/>
        </p:txBody>
      </p:sp>
      <p:sp>
        <p:nvSpPr>
          <p:cNvPr id="3" name="Shape 1"/>
          <p:cNvSpPr/>
          <p:nvPr/>
        </p:nvSpPr>
        <p:spPr>
          <a:xfrm>
            <a:off x="365760" y="320040"/>
            <a:ext cx="1280160" cy="1280160"/>
          </a:xfrm>
          <a:prstGeom prst="rect">
            <a:avLst/>
          </a:prstGeom>
          <a:solidFill>
            <a:srgbClr val="FFFFFF"/>
          </a:solidFill>
          <a:ln w="12700">
            <a:solidFill>
              <a:srgbClr val="FFFFFF"/>
            </a:solidFill>
            <a:prstDash val="solid"/>
          </a:ln>
        </p:spPr>
        <p:txBody>
          <a:bodyPr/>
          <a:p/>
        </p:txBody>
      </p:sp>
      <p:sp>
        <p:nvSpPr>
          <p:cNvPr id="4" name="Text 2"/>
          <p:cNvSpPr txBox="1"/>
          <p:nvPr/>
        </p:nvSpPr>
        <p:spPr>
          <a:xfrm>
            <a:off x="365760" y="320040"/>
            <a:ext cx="1280160" cy="12801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KLH Logo</a:t>
            </a:r>
            <a:endParaRPr lang="en-US" sz="1100" dirty="0"/>
          </a:p>
        </p:txBody>
      </p:sp>
      <p:sp>
        <p:nvSpPr>
          <p:cNvPr id="5" name="Text 3"/>
          <p:cNvSpPr txBox="1"/>
          <p:nvPr/>
        </p:nvSpPr>
        <p:spPr>
          <a:xfrm>
            <a:off x="1920240" y="228600"/>
            <a:ext cx="8407908" cy="1463040"/>
          </a:xfrm>
          <a:prstGeom prst="rect">
            <a:avLst/>
          </a:prstGeom>
          <a:noFill/>
          <a:ln/>
        </p:spPr>
        <p:txBody>
          <a:bodyPr wrap="square" lIns="0" tIns="0" rIns="0" bIns="0" rtlCol="0" anchor="ctr"/>
          <a:lstStyle/>
          <a:p>
            <a:pPr indent="0" marL="0">
              <a:spcAft>
                <a:spcPts val="400"/>
              </a:spcAft>
              <a:buNone/>
            </a:pPr>
            <a:r>
              <a:rPr sz="2800" b="1">
                <a:solidFill>
                  <a:srgbClr val="0F1E3C"/>
                </a:solidFill>
                <a:latin typeface="Calibri"/>
              </a:rPr>
              <a:t>BOOKVERSE: An Immersive 3D Interactive Digital Library &amp; Distributed Social Reading Platform</a:t>
            </a:r>
            <a:endParaRPr lang="en-US" sz="3350" dirty="0"/>
          </a:p>
          <a:p>
            <a:r>
              <a:t>Team ID: BV-PBL-042  |  Section: S-14 (CSE)  |  Author: J. SAI SATYAN  |  Guide: Dr. K. V. Ramanathan</a:t>
            </a:r>
          </a:p>
          <a:p>
            <a:r>
              <a:rPr sz="1200" b="0">
                <a:solidFill>
                  <a:srgbClr val="475569"/>
                </a:solidFill>
                <a:latin typeface="Calibri"/>
              </a:rPr>
              <a:t>Database Systems Engineering and Distributed Backend Development (25CS1302E)  |  KLH Bachupally Campus, CSE  |  PBL 2026-27</a:t>
            </a:r>
          </a:p>
        </p:txBody>
      </p:sp>
      <p:sp>
        <p:nvSpPr>
          <p:cNvPr id="6" name="Shape 4"/>
          <p:cNvSpPr/>
          <p:nvPr/>
        </p:nvSpPr>
        <p:spPr>
          <a:xfrm>
            <a:off x="365760" y="2103120"/>
            <a:ext cx="4844034" cy="1645920"/>
          </a:xfrm>
          <a:prstGeom prst="roundRect">
            <a:avLst>
              <a:gd name="adj" fmla="val 4167"/>
            </a:avLst>
          </a:prstGeom>
          <a:solidFill>
            <a:srgbClr val="FEF3C7"/>
          </a:solidFill>
          <a:ln w="9525">
            <a:solidFill>
              <a:srgbClr val="B45309"/>
            </a:solidFill>
            <a:prstDash val="solid"/>
          </a:ln>
        </p:spPr>
        <p:txBody>
          <a:bodyPr/>
          <a:p/>
        </p:txBody>
      </p:sp>
      <p:sp>
        <p:nvSpPr>
          <p:cNvPr id="7" name="Text 5"/>
          <p:cNvSpPr txBox="1"/>
          <p:nvPr/>
        </p:nvSpPr>
        <p:spPr>
          <a:xfrm>
            <a:off x="502920" y="2194560"/>
            <a:ext cx="4569714" cy="320040"/>
          </a:xfrm>
          <a:prstGeom prst="rect">
            <a:avLst/>
          </a:prstGeom>
          <a:noFill/>
          <a:ln/>
        </p:spPr>
        <p:txBody>
          <a:bodyPr wrap="square" lIns="0" tIns="0" rIns="0" bIns="0" rtlCol="0" anchor="ctr"/>
          <a:lstStyle/>
          <a:p>
            <a:pPr indent="0" marL="0">
              <a:buNone/>
            </a:pPr>
            <a:r>
              <a:rPr lang="en-US" sz="1800" b="1" dirty="0">
                <a:solidFill>
                  <a:srgbClr val="B45309"/>
                </a:solidFill>
                <a:latin typeface="Calibri" pitchFamily="34" charset="0"/>
                <a:ea typeface="Calibri" pitchFamily="34" charset="-122"/>
                <a:cs typeface="Calibri" pitchFamily="34" charset="-120"/>
              </a:rPr>
              <a:t>Abstract</a:t>
            </a:r>
            <a:endParaRPr lang="en-US" sz="1800" dirty="0"/>
          </a:p>
        </p:txBody>
      </p:sp>
      <p:sp>
        <p:nvSpPr>
          <p:cNvPr id="8" name="Text 6"/>
          <p:cNvSpPr txBox="1"/>
          <p:nvPr/>
        </p:nvSpPr>
        <p:spPr>
          <a:xfrm>
            <a:off x="502920" y="2560320"/>
            <a:ext cx="4569714" cy="1097280"/>
          </a:xfrm>
          <a:prstGeom prst="rect">
            <a:avLst/>
          </a:prstGeom>
          <a:noFill/>
          <a:ln/>
        </p:spPr>
        <p:txBody>
          <a:bodyPr wrap="square" lIns="0" tIns="0" rIns="0" bIns="0" rtlCol="0" anchor="t"/>
          <a:lstStyle/>
          <a:p>
            <a:pPr marL="342900" indent="-342900">
              <a:spcAft>
                <a:spcPts val="400"/>
              </a:spcAft>
              <a:buSzPct val="100000"/>
              <a:buChar char="•"/>
            </a:pPr>
            <a:r>
              <a:rPr sz="1300" b="0">
                <a:solidFill>
                  <a:srgbClr val="1E293B"/>
                </a:solidFill>
                <a:latin typeface="Calibri"/>
              </a:rPr>
              <a:t>BookVerse is an end-to-end full-stack literary platform engineered for bibliophiles and students, unifying high-performance relational database management with an interactive 3D skeuomorphic reading experience. Powered by an asynchronous FastAPI (Python) REST backend, MySQL 8.0 (InnoDB) database, and React 18 client with 3D canvas scroll-turn physics.</a:t>
            </a:r>
            <a:endParaRPr lang="en-US" sz="1550" dirty="0"/>
          </a:p>
          <a:p>
            <a:r>
              <a:rPr sz="1300" b="1">
                <a:solidFill>
                  <a:srgbClr val="0F1E3C"/>
                </a:solidFill>
                <a:latin typeface="Calibri"/>
              </a:rPr>
              <a:t>Main Outcome: Eliminates catalog latency, guarantees complete referential integrity with cascading schemas, and restores the tactile nostalgia of paper books.</a:t>
            </a:r>
          </a:p>
        </p:txBody>
      </p:sp>
      <p:sp>
        <p:nvSpPr>
          <p:cNvPr id="9" name="Shape 7"/>
          <p:cNvSpPr/>
          <p:nvPr/>
        </p:nvSpPr>
        <p:spPr>
          <a:xfrm>
            <a:off x="365760" y="3886200"/>
            <a:ext cx="4844034" cy="2286000"/>
          </a:xfrm>
          <a:prstGeom prst="roundRect">
            <a:avLst>
              <a:gd name="adj" fmla="val 3000"/>
            </a:avLst>
          </a:prstGeom>
          <a:solidFill>
            <a:srgbClr val="FCE7F3"/>
          </a:solidFill>
          <a:ln w="9525">
            <a:solidFill>
              <a:srgbClr val="BE185D"/>
            </a:solidFill>
            <a:prstDash val="solid"/>
          </a:ln>
        </p:spPr>
        <p:txBody>
          <a:bodyPr/>
          <a:p/>
        </p:txBody>
      </p:sp>
      <p:sp>
        <p:nvSpPr>
          <p:cNvPr id="10" name="Text 8"/>
          <p:cNvSpPr txBox="1"/>
          <p:nvPr/>
        </p:nvSpPr>
        <p:spPr>
          <a:xfrm>
            <a:off x="502920" y="3977640"/>
            <a:ext cx="4569714" cy="320040"/>
          </a:xfrm>
          <a:prstGeom prst="rect">
            <a:avLst/>
          </a:prstGeom>
          <a:noFill/>
          <a:ln/>
        </p:spPr>
        <p:txBody>
          <a:bodyPr wrap="square" lIns="0" tIns="0" rIns="0" bIns="0" rtlCol="0" anchor="ctr"/>
          <a:lstStyle/>
          <a:p>
            <a:pPr indent="0" marL="0">
              <a:buNone/>
            </a:pPr>
            <a:r>
              <a:rPr lang="en-US" sz="1800" b="1" dirty="0">
                <a:solidFill>
                  <a:srgbClr val="BE185D"/>
                </a:solidFill>
                <a:latin typeface="Calibri" pitchFamily="34" charset="0"/>
                <a:ea typeface="Calibri" pitchFamily="34" charset="-122"/>
                <a:cs typeface="Calibri" pitchFamily="34" charset="-120"/>
              </a:rPr>
              <a:t>Problem Statement &amp; Objectives</a:t>
            </a:r>
            <a:endParaRPr lang="en-US" sz="1800" dirty="0"/>
          </a:p>
        </p:txBody>
      </p:sp>
      <p:sp>
        <p:nvSpPr>
          <p:cNvPr id="11" name="Text 9"/>
          <p:cNvSpPr txBox="1"/>
          <p:nvPr/>
        </p:nvSpPr>
        <p:spPr>
          <a:xfrm>
            <a:off x="502920" y="4343400"/>
            <a:ext cx="4569714" cy="1737360"/>
          </a:xfrm>
          <a:prstGeom prst="rect">
            <a:avLst/>
          </a:prstGeom>
          <a:noFill/>
          <a:ln/>
        </p:spPr>
        <p:txBody>
          <a:bodyPr wrap="square" lIns="0" tIns="0" rIns="0" bIns="0" rtlCol="0" anchor="t"/>
          <a:lstStyle/>
          <a:p>
            <a:pPr marL="342900" indent="-342900">
              <a:spcAft>
                <a:spcPts val="400"/>
              </a:spcAft>
              <a:buSzPct val="100000"/>
              <a:buChar char="•"/>
            </a:pPr>
            <a:r>
              <a:rPr sz="1250" b="0">
                <a:solidFill>
                  <a:srgbClr val="1E293B"/>
                </a:solidFill>
                <a:latin typeface="Calibri"/>
              </a:rPr>
              <a:t>Problem: Conventional book platforms (e.g. Goodreads, Calibre) suffer from outdated interfaces, sluggish monolithic queries, intrusive advertisements, detached shelf tracking, and brittle external cover hotlinks (HTTP 404).</a:t>
            </a:r>
            <a:endParaRPr lang="en-US" sz="1550" dirty="0"/>
          </a:p>
          <a:p>
            <a:r>
              <a:rPr sz="1200" b="0">
                <a:solidFill>
                  <a:srgbClr val="1E293B"/>
                </a:solidFill>
                <a:latin typeface="Calibri"/>
              </a:rPr>
              <a:t>Objective 1: Design and normalize a MySQL 8.0 schema to 3NF with foreign-key cascades for 58+ classic volumes.</a:t>
            </a:r>
          </a:p>
          <a:p>
            <a:r>
              <a:rPr sz="1200" b="0">
                <a:solidFill>
                  <a:srgbClr val="1E293B"/>
                </a:solidFill>
                <a:latin typeface="Calibri"/>
              </a:rPr>
              <a:t>Objective 2: Build an asynchronous FastAPI REST gateway with sub-35ms CRUD endpoints and Pydantic validation.</a:t>
            </a:r>
          </a:p>
          <a:p>
            <a:r>
              <a:rPr sz="1200" b="0">
                <a:solidFill>
                  <a:srgbClr val="1E293B"/>
                </a:solidFill>
                <a:latin typeface="Calibri"/>
              </a:rPr>
              <a:t>Objective 3: Implement an interactive 3D open-tome scroll canvas with dynamic leaf flippers and vector stationery.</a:t>
            </a:r>
          </a:p>
          <a:p>
            <a:r>
              <a:rPr sz="1200" b="0">
                <a:solidFill>
                  <a:srgbClr val="475569"/>
                </a:solidFill>
                <a:latin typeface="Calibri"/>
              </a:rPr>
              <a:t>Scope: Readers &amp; researchers. Modules: Grand Library Catalog, Reading Shelf, Voices &amp; Critique, Rituals, AI Oracle.</a:t>
            </a:r>
          </a:p>
        </p:txBody>
      </p:sp>
      <p:sp>
        <p:nvSpPr>
          <p:cNvPr id="12" name="Shape 10"/>
          <p:cNvSpPr/>
          <p:nvPr/>
        </p:nvSpPr>
        <p:spPr>
          <a:xfrm>
            <a:off x="365760" y="6309360"/>
            <a:ext cx="4844034" cy="3017520"/>
          </a:xfrm>
          <a:prstGeom prst="roundRect">
            <a:avLst>
              <a:gd name="adj" fmla="val 2273"/>
            </a:avLst>
          </a:prstGeom>
          <a:solidFill>
            <a:srgbClr val="DBEAFE"/>
          </a:solidFill>
          <a:ln w="9525">
            <a:solidFill>
              <a:srgbClr val="1D4ED8"/>
            </a:solidFill>
            <a:prstDash val="solid"/>
          </a:ln>
        </p:spPr>
        <p:txBody>
          <a:bodyPr/>
          <a:p/>
        </p:txBody>
      </p:sp>
      <p:sp>
        <p:nvSpPr>
          <p:cNvPr id="13" name="Text 11"/>
          <p:cNvSpPr txBox="1"/>
          <p:nvPr/>
        </p:nvSpPr>
        <p:spPr>
          <a:xfrm>
            <a:off x="502920" y="6400800"/>
            <a:ext cx="4569714" cy="320040"/>
          </a:xfrm>
          <a:prstGeom prst="rect">
            <a:avLst/>
          </a:prstGeom>
          <a:noFill/>
          <a:ln/>
        </p:spPr>
        <p:txBody>
          <a:bodyPr wrap="square" lIns="0" tIns="0" rIns="0" bIns="0" rtlCol="0" anchor="ctr"/>
          <a:lstStyle/>
          <a:p>
            <a:pPr indent="0" marL="0">
              <a:buNone/>
            </a:pPr>
            <a:r>
              <a:rPr lang="en-US" sz="1800" b="1" dirty="0">
                <a:solidFill>
                  <a:srgbClr val="1D4ED8"/>
                </a:solidFill>
                <a:latin typeface="Calibri" pitchFamily="34" charset="0"/>
                <a:ea typeface="Calibri" pitchFamily="34" charset="-122"/>
                <a:cs typeface="Calibri" pitchFamily="34" charset="-120"/>
              </a:rPr>
              <a:t>Existing vs Proposed System</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6766560"/>
          <a:ext cx="4569714" cy="914400"/>
        </p:xfrm>
        <a:graphic>
          <a:graphicData uri="http://schemas.openxmlformats.org/drawingml/2006/table">
            <a:tbl>
              <a:tblPr/>
              <a:tblGrid>
                <a:gridCol w="1097280"/>
                <a:gridCol w="1760220"/>
                <a:gridCol w="1760220"/>
              </a:tblGrid>
              <a:tr h="388620">
                <a:tc>
                  <a:txBody>
                    <a:bodyPr/>
                    <a:lstStyle/>
                    <a:p>
                      <a:r>
                        <a:rPr sz="1250" b="1">
                          <a:latin typeface="Calibri"/>
                        </a:rPr>
                        <a:t>Feature</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c>
                  <a:txBody>
                    <a:bodyPr/>
                    <a:lstStyle/>
                    <a:p>
                      <a:r>
                        <a:rPr sz="1250" b="1">
                          <a:latin typeface="Calibri"/>
                        </a:rPr>
                        <a:t>Existing System</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c>
                  <a:txBody>
                    <a:bodyPr/>
                    <a:lstStyle/>
                    <a:p>
                      <a:r>
                        <a:rPr sz="1250" b="1">
                          <a:latin typeface="Calibri"/>
                        </a:rPr>
                        <a:t>Proposed System</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r>
              <a:tr h="388620">
                <a:tc>
                  <a:txBody>
                    <a:bodyPr/>
                    <a:lstStyle/>
                    <a:p>
                      <a:r>
                        <a:rPr sz="1150" b="1">
                          <a:latin typeface="Calibri"/>
                        </a:rPr>
                        <a:t>Visual Immersion</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Static 2D flat lists, heavy ad clutter</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3D Open Tome with scroll-turn animations &amp; pencils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Cover Delivery</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External CDN links prone to HTTP 404s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100% Local uploads cache (58/58 books verified)</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Backend Architecture</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Monolithic blocking server queries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Asynchronous ASGI (FastAPI + Uvicorn) &lt;35ms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Progress Tracking</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Rigid static text counters; manual submit</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Real-time range sliders with instant percentage sync</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Sensory Gap</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Tools feel like clinical spreadsheets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BookVerse bridges digital speed with paper nostalgia</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bl>
          </a:graphicData>
        </a:graphic>
      </p:graphicFrame>
      <p:sp>
        <p:nvSpPr>
          <p:cNvPr id="15" name="Shape 12"/>
          <p:cNvSpPr/>
          <p:nvPr/>
        </p:nvSpPr>
        <p:spPr>
          <a:xfrm>
            <a:off x="365760" y="9464040"/>
            <a:ext cx="4844034" cy="2971800"/>
          </a:xfrm>
          <a:prstGeom prst="roundRect">
            <a:avLst>
              <a:gd name="adj" fmla="val 2308"/>
            </a:avLst>
          </a:prstGeom>
          <a:solidFill>
            <a:srgbClr val="DCFCE7"/>
          </a:solidFill>
          <a:ln w="9525">
            <a:solidFill>
              <a:srgbClr val="15803D"/>
            </a:solidFill>
            <a:prstDash val="solid"/>
          </a:ln>
        </p:spPr>
        <p:txBody>
          <a:bodyPr/>
          <a:p/>
        </p:txBody>
      </p:sp>
      <p:sp>
        <p:nvSpPr>
          <p:cNvPr id="16" name="Text 13"/>
          <p:cNvSpPr txBox="1"/>
          <p:nvPr/>
        </p:nvSpPr>
        <p:spPr>
          <a:xfrm>
            <a:off x="502920" y="9555480"/>
            <a:ext cx="4569714" cy="320040"/>
          </a:xfrm>
          <a:prstGeom prst="rect">
            <a:avLst/>
          </a:prstGeom>
          <a:noFill/>
          <a:ln/>
        </p:spPr>
        <p:txBody>
          <a:bodyPr wrap="square" lIns="0" tIns="0" rIns="0" bIns="0" rtlCol="0" anchor="ctr"/>
          <a:lstStyle/>
          <a:p>
            <a:pPr indent="0" marL="0">
              <a:buNone/>
            </a:pPr>
            <a:r>
              <a:rPr lang="en-US" sz="1800" b="1" dirty="0">
                <a:solidFill>
                  <a:srgbClr val="15803D"/>
                </a:solidFill>
                <a:latin typeface="Calibri" pitchFamily="34" charset="0"/>
                <a:ea typeface="Calibri" pitchFamily="34" charset="-122"/>
                <a:cs typeface="Calibri" pitchFamily="34" charset="-120"/>
              </a:rPr>
              <a:t>Feasibility Study</a:t>
            </a:r>
            <a:endParaRPr lang="en-US" sz="1800" dirty="0"/>
          </a:p>
        </p:txBody>
      </p:sp>
      <p:sp>
        <p:nvSpPr>
          <p:cNvPr id="17" name="Text 14"/>
          <p:cNvSpPr txBox="1"/>
          <p:nvPr/>
        </p:nvSpPr>
        <p:spPr>
          <a:xfrm>
            <a:off x="502920" y="9921240"/>
            <a:ext cx="4569714" cy="2423160"/>
          </a:xfrm>
          <a:prstGeom prst="rect">
            <a:avLst/>
          </a:prstGeom>
          <a:noFill/>
          <a:ln/>
        </p:spPr>
        <p:txBody>
          <a:bodyPr wrap="square" lIns="0" tIns="0" rIns="0" bIns="0" rtlCol="0" anchor="t"/>
          <a:lstStyle/>
          <a:p>
            <a:pPr marL="342900" indent="-342900">
              <a:spcAft>
                <a:spcPts val="400"/>
              </a:spcAft>
              <a:buSzPct val="100000"/>
              <a:buChar char="•"/>
            </a:pPr>
            <a:r>
              <a:rPr sz="1300" b="0">
                <a:solidFill>
                  <a:srgbClr val="1E293B"/>
                </a:solidFill>
                <a:latin typeface="Calibri"/>
              </a:rPr>
              <a:t>Technical: Built with Python 3.12, FastAPI, SQLAlchemy ORM, MySQL 8.0, React 18, and CSS3 3D Transforms.</a:t>
            </a:r>
            <a:endParaRPr lang="en-US" sz="1550" dirty="0"/>
          </a:p>
          <a:p>
            <a:r>
              <a:rPr sz="1300" b="0">
                <a:solidFill>
                  <a:srgbClr val="1E293B"/>
                </a:solidFill>
                <a:latin typeface="Calibri"/>
              </a:rPr>
              <a:t>Economic: 100% open-source software stack with zero licensing fees; operates on commodity servers.</a:t>
            </a:r>
          </a:p>
          <a:p>
            <a:r>
              <a:rPr sz="1300" b="0">
                <a:solidFill>
                  <a:srgbClr val="1E293B"/>
                </a:solidFill>
                <a:latin typeface="Calibri"/>
              </a:rPr>
              <a:t>Operational: Intuitive chapter-based layout; dark &amp; light parchment modes; zero learning curve for users.</a:t>
            </a:r>
          </a:p>
          <a:p>
            <a:r>
              <a:rPr sz="1300" b="0">
                <a:solidFill>
                  <a:srgbClr val="1E293B"/>
                </a:solidFill>
                <a:latin typeface="Calibri"/>
              </a:rPr>
              <a:t>Schedule: Completed across 5 structured sprints within the academic semester timeline.</a:t>
            </a:r>
          </a:p>
        </p:txBody>
      </p:sp>
      <p:sp>
        <p:nvSpPr>
          <p:cNvPr id="18" name="Shape 15"/>
          <p:cNvSpPr/>
          <p:nvPr/>
        </p:nvSpPr>
        <p:spPr>
          <a:xfrm>
            <a:off x="5484114" y="2103120"/>
            <a:ext cx="4844034" cy="2286000"/>
          </a:xfrm>
          <a:prstGeom prst="roundRect">
            <a:avLst>
              <a:gd name="adj" fmla="val 3000"/>
            </a:avLst>
          </a:prstGeom>
          <a:solidFill>
            <a:srgbClr val="E0F2FE"/>
          </a:solidFill>
          <a:ln w="9525">
            <a:solidFill>
              <a:srgbClr val="0369A1"/>
            </a:solidFill>
            <a:prstDash val="solid"/>
          </a:ln>
        </p:spPr>
        <p:txBody>
          <a:bodyPr/>
          <a:p/>
        </p:txBody>
      </p:sp>
      <p:sp>
        <p:nvSpPr>
          <p:cNvPr id="19" name="Text 16"/>
          <p:cNvSpPr txBox="1"/>
          <p:nvPr/>
        </p:nvSpPr>
        <p:spPr>
          <a:xfrm>
            <a:off x="5621274" y="2194560"/>
            <a:ext cx="4569714" cy="320040"/>
          </a:xfrm>
          <a:prstGeom prst="rect">
            <a:avLst/>
          </a:prstGeom>
          <a:noFill/>
          <a:ln/>
        </p:spPr>
        <p:txBody>
          <a:bodyPr wrap="square" lIns="0" tIns="0" rIns="0" bIns="0" rtlCol="0" anchor="ctr"/>
          <a:lstStyle/>
          <a:p>
            <a:pPr indent="0" marL="0">
              <a:buNone/>
            </a:pPr>
            <a:r>
              <a:rPr lang="en-US" sz="1800" b="1" dirty="0">
                <a:solidFill>
                  <a:srgbClr val="0369A1"/>
                </a:solidFill>
                <a:latin typeface="Calibri" pitchFamily="34" charset="0"/>
                <a:ea typeface="Calibri" pitchFamily="34" charset="-122"/>
                <a:cs typeface="Calibri" pitchFamily="34" charset="-120"/>
              </a:rPr>
              <a:t>Tools &amp; Technologies</a:t>
            </a:r>
            <a:endParaRPr lang="en-US" sz="1800" dirty="0"/>
          </a:p>
        </p:txBody>
      </p:sp>
      <p:sp>
        <p:nvSpPr>
          <p:cNvPr id="20" name="Text 17"/>
          <p:cNvSpPr txBox="1"/>
          <p:nvPr/>
        </p:nvSpPr>
        <p:spPr>
          <a:xfrm>
            <a:off x="5621274" y="2560320"/>
            <a:ext cx="4569714" cy="1737360"/>
          </a:xfrm>
          <a:prstGeom prst="rect">
            <a:avLst/>
          </a:prstGeom>
          <a:noFill/>
          <a:ln/>
        </p:spPr>
        <p:txBody>
          <a:bodyPr wrap="square" lIns="0" tIns="0" rIns="0" bIns="0" rtlCol="0" anchor="t"/>
          <a:lstStyle/>
          <a:p>
            <a:pPr marL="342900" indent="-342900">
              <a:spcAft>
                <a:spcPts val="400"/>
              </a:spcAft>
              <a:buSzPct val="100000"/>
              <a:buChar char="•"/>
            </a:pPr>
            <a:r>
              <a:rPr sz="1300" b="0">
                <a:solidFill>
                  <a:srgbClr val="1E293B"/>
                </a:solidFill>
                <a:latin typeface="Calibri"/>
              </a:rPr>
              <a:t>Front-End: React 18 (SPA), Vite 8.3, React Router 6, CSS3 3D Transforms, Canvas API</a:t>
            </a:r>
            <a:endParaRPr lang="en-US" sz="1550" dirty="0"/>
          </a:p>
          <a:p>
            <a:r>
              <a:rPr sz="1300" b="0">
                <a:solidFill>
                  <a:srgbClr val="1E293B"/>
                </a:solidFill>
                <a:latin typeface="Calibri"/>
              </a:rPr>
              <a:t>Back-End: FastAPI (Python 3.12+), Uvicorn ASGI Server, Pydantic v2, SQLAlchemy 2.0</a:t>
            </a:r>
          </a:p>
          <a:p>
            <a:r>
              <a:rPr sz="1300" b="0">
                <a:solidFill>
                  <a:srgbClr val="1E293B"/>
                </a:solidFill>
                <a:latin typeface="Calibri"/>
              </a:rPr>
              <a:t>Database: MySQL 8.0 (InnoDB Engine, utf8mb4_0900_ai_ci, PyMySQL Connection Pool)</a:t>
            </a:r>
          </a:p>
          <a:p>
            <a:r>
              <a:rPr sz="1300" b="0">
                <a:solidFill>
                  <a:srgbClr val="1E293B"/>
                </a:solidFill>
                <a:latin typeface="Calibri"/>
              </a:rPr>
              <a:t>Tools: Git &amp; GitHub, Postman, VS Code, Pillow (PIL), Draw.io</a:t>
            </a:r>
          </a:p>
        </p:txBody>
      </p:sp>
      <p:sp>
        <p:nvSpPr>
          <p:cNvPr id="21" name="Shape 18"/>
          <p:cNvSpPr/>
          <p:nvPr/>
        </p:nvSpPr>
        <p:spPr>
          <a:xfrm>
            <a:off x="5484114" y="4526280"/>
            <a:ext cx="4844034" cy="2743200"/>
          </a:xfrm>
          <a:prstGeom prst="roundRect">
            <a:avLst>
              <a:gd name="adj" fmla="val 2500"/>
            </a:avLst>
          </a:prstGeom>
          <a:solidFill>
            <a:srgbClr val="EDE9FE"/>
          </a:solidFill>
          <a:ln w="9525">
            <a:solidFill>
              <a:srgbClr val="6D28D9"/>
            </a:solidFill>
            <a:prstDash val="solid"/>
          </a:ln>
        </p:spPr>
        <p:txBody>
          <a:bodyPr/>
          <a:p/>
        </p:txBody>
      </p:sp>
      <p:sp>
        <p:nvSpPr>
          <p:cNvPr id="22" name="Text 19"/>
          <p:cNvSpPr txBox="1"/>
          <p:nvPr/>
        </p:nvSpPr>
        <p:spPr>
          <a:xfrm>
            <a:off x="5621274" y="4617720"/>
            <a:ext cx="4569714" cy="320040"/>
          </a:xfrm>
          <a:prstGeom prst="rect">
            <a:avLst/>
          </a:prstGeom>
          <a:noFill/>
          <a:ln/>
        </p:spPr>
        <p:txBody>
          <a:bodyPr wrap="square" lIns="0" tIns="0" rIns="0" bIns="0" rtlCol="0" anchor="ctr"/>
          <a:lstStyle/>
          <a:p>
            <a:pPr indent="0" marL="0">
              <a:buNone/>
            </a:pPr>
            <a:r>
              <a:rPr lang="en-US" sz="1800" b="1" dirty="0">
                <a:solidFill>
                  <a:srgbClr val="6D28D9"/>
                </a:solidFill>
                <a:latin typeface="Calibri" pitchFamily="34" charset="0"/>
                <a:ea typeface="Calibri" pitchFamily="34" charset="-122"/>
                <a:cs typeface="Calibri" pitchFamily="34" charset="-120"/>
              </a:rPr>
              <a:t>System Architecture</a:t>
            </a:r>
            <a:endParaRPr lang="en-US" sz="1800" dirty="0"/>
          </a:p>
        </p:txBody>
      </p:sp>
      <p:sp>
        <p:nvSpPr>
          <p:cNvPr id="23" name="Shape 20"/>
          <p:cNvSpPr/>
          <p:nvPr/>
        </p:nvSpPr>
        <p:spPr>
          <a:xfrm>
            <a:off x="5621274" y="4983480"/>
            <a:ext cx="4569714" cy="2148840"/>
          </a:xfrm>
          <a:prstGeom prst="rect">
            <a:avLst/>
          </a:prstGeom>
          <a:solidFill>
            <a:srgbClr val="FFFFFF"/>
          </a:solidFill>
          <a:ln w="9525">
            <a:solidFill>
              <a:srgbClr val="6D28D9"/>
            </a:solidFill>
            <a:prstDash val="dash"/>
          </a:ln>
        </p:spPr>
        <p:txBody>
          <a:bodyPr/>
          <a:p/>
        </p:txBody>
      </p:sp>
      <p:sp>
        <p:nvSpPr>
          <p:cNvPr id="24" name="Text 21"/>
          <p:cNvSpPr txBox="1"/>
          <p:nvPr/>
        </p:nvSpPr>
        <p:spPr>
          <a:xfrm>
            <a:off x="5621274" y="4983480"/>
            <a:ext cx="4569714" cy="2148840"/>
          </a:xfrm>
          <a:prstGeom prst="rect">
            <a:avLst/>
          </a:prstGeom>
          <a:noFill/>
          <a:ln/>
        </p:spPr>
        <p:txBody>
          <a:bodyPr wrap="square" rtlCol="0" anchor="ctr"/>
          <a:lstStyle/>
          <a:p/>
        </p:txBody>
      </p:sp>
      <p:sp>
        <p:nvSpPr>
          <p:cNvPr id="25" name="Shape 22"/>
          <p:cNvSpPr/>
          <p:nvPr/>
        </p:nvSpPr>
        <p:spPr>
          <a:xfrm>
            <a:off x="5484114" y="7406640"/>
            <a:ext cx="4844034" cy="2514600"/>
          </a:xfrm>
          <a:prstGeom prst="roundRect">
            <a:avLst>
              <a:gd name="adj" fmla="val 2727"/>
            </a:avLst>
          </a:prstGeom>
          <a:solidFill>
            <a:srgbClr val="FFEDD5"/>
          </a:solidFill>
          <a:ln w="9525">
            <a:solidFill>
              <a:srgbClr val="C2410C"/>
            </a:solidFill>
            <a:prstDash val="solid"/>
          </a:ln>
        </p:spPr>
        <p:txBody>
          <a:bodyPr/>
          <a:p/>
        </p:txBody>
      </p:sp>
      <p:sp>
        <p:nvSpPr>
          <p:cNvPr id="26" name="Text 23"/>
          <p:cNvSpPr txBox="1"/>
          <p:nvPr/>
        </p:nvSpPr>
        <p:spPr>
          <a:xfrm>
            <a:off x="5621274" y="7498080"/>
            <a:ext cx="4569714" cy="32004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ER Diagram &amp; Database Design</a:t>
            </a:r>
            <a:endParaRPr lang="en-US" sz="1800" dirty="0"/>
          </a:p>
        </p:txBody>
      </p:sp>
      <p:sp>
        <p:nvSpPr>
          <p:cNvPr id="27" name="Shape 24"/>
          <p:cNvSpPr/>
          <p:nvPr/>
        </p:nvSpPr>
        <p:spPr>
          <a:xfrm>
            <a:off x="5621274" y="7863840"/>
            <a:ext cx="4569714" cy="1920240"/>
          </a:xfrm>
          <a:prstGeom prst="rect">
            <a:avLst/>
          </a:prstGeom>
          <a:solidFill>
            <a:srgbClr val="FFFFFF"/>
          </a:solidFill>
          <a:ln w="9525">
            <a:solidFill>
              <a:srgbClr val="C2410C"/>
            </a:solidFill>
            <a:prstDash val="dash"/>
          </a:ln>
        </p:spPr>
        <p:txBody>
          <a:bodyPr/>
          <a:p/>
        </p:txBody>
      </p:sp>
      <p:sp>
        <p:nvSpPr>
          <p:cNvPr id="28" name="Text 25"/>
          <p:cNvSpPr txBox="1"/>
          <p:nvPr/>
        </p:nvSpPr>
        <p:spPr>
          <a:xfrm>
            <a:off x="5621274" y="7863840"/>
            <a:ext cx="4569714" cy="1920240"/>
          </a:xfrm>
          <a:prstGeom prst="rect">
            <a:avLst/>
          </a:prstGeom>
          <a:noFill/>
          <a:ln/>
        </p:spPr>
        <p:txBody>
          <a:bodyPr wrap="square" rtlCol="0" anchor="ctr"/>
          <a:lstStyle/>
          <a:p/>
        </p:txBody>
      </p:sp>
      <p:sp>
        <p:nvSpPr>
          <p:cNvPr id="29" name="Shape 26"/>
          <p:cNvSpPr/>
          <p:nvPr/>
        </p:nvSpPr>
        <p:spPr>
          <a:xfrm>
            <a:off x="5484114" y="10058400"/>
            <a:ext cx="4844034" cy="2377440"/>
          </a:xfrm>
          <a:prstGeom prst="roundRect">
            <a:avLst>
              <a:gd name="adj" fmla="val 2885"/>
            </a:avLst>
          </a:prstGeom>
          <a:solidFill>
            <a:srgbClr val="CCFBF1"/>
          </a:solidFill>
          <a:ln w="9525">
            <a:solidFill>
              <a:srgbClr val="0F766E"/>
            </a:solidFill>
            <a:prstDash val="solid"/>
          </a:ln>
        </p:spPr>
        <p:txBody>
          <a:bodyPr/>
          <a:p/>
        </p:txBody>
      </p:sp>
      <p:sp>
        <p:nvSpPr>
          <p:cNvPr id="30" name="Text 27"/>
          <p:cNvSpPr txBox="1"/>
          <p:nvPr/>
        </p:nvSpPr>
        <p:spPr>
          <a:xfrm>
            <a:off x="5621274" y="10149840"/>
            <a:ext cx="4569714" cy="32004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Implementation Screenshots</a:t>
            </a:r>
            <a:endParaRPr lang="en-US" sz="1800" dirty="0"/>
          </a:p>
        </p:txBody>
      </p:sp>
      <p:sp>
        <p:nvSpPr>
          <p:cNvPr id="31" name="Shape 28"/>
          <p:cNvSpPr/>
          <p:nvPr/>
        </p:nvSpPr>
        <p:spPr>
          <a:xfrm>
            <a:off x="5621274" y="10515600"/>
            <a:ext cx="2216277" cy="1783080"/>
          </a:xfrm>
          <a:prstGeom prst="rect">
            <a:avLst/>
          </a:prstGeom>
          <a:solidFill>
            <a:srgbClr val="FFFFFF"/>
          </a:solidFill>
          <a:ln w="9525">
            <a:solidFill>
              <a:srgbClr val="0F766E"/>
            </a:solidFill>
            <a:prstDash val="dash"/>
          </a:ln>
        </p:spPr>
        <p:txBody>
          <a:bodyPr/>
          <a:p/>
        </p:txBody>
      </p:sp>
      <p:sp>
        <p:nvSpPr>
          <p:cNvPr id="32" name="Text 29"/>
          <p:cNvSpPr txBox="1"/>
          <p:nvPr/>
        </p:nvSpPr>
        <p:spPr>
          <a:xfrm>
            <a:off x="5621274" y="10515600"/>
            <a:ext cx="2216277" cy="1783080"/>
          </a:xfrm>
          <a:prstGeom prst="rect">
            <a:avLst/>
          </a:prstGeom>
          <a:noFill/>
          <a:ln/>
        </p:spPr>
        <p:txBody>
          <a:bodyPr wrap="square" rtlCol="0" anchor="ctr"/>
          <a:lstStyle/>
          <a:p/>
        </p:txBody>
      </p:sp>
      <p:sp>
        <p:nvSpPr>
          <p:cNvPr id="33" name="Shape 30"/>
          <p:cNvSpPr/>
          <p:nvPr/>
        </p:nvSpPr>
        <p:spPr>
          <a:xfrm>
            <a:off x="7974711" y="10515600"/>
            <a:ext cx="2216277" cy="1783080"/>
          </a:xfrm>
          <a:prstGeom prst="rect">
            <a:avLst/>
          </a:prstGeom>
          <a:solidFill>
            <a:srgbClr val="FFFFFF"/>
          </a:solidFill>
          <a:ln w="9525">
            <a:solidFill>
              <a:srgbClr val="0F766E"/>
            </a:solidFill>
            <a:prstDash val="dash"/>
          </a:ln>
        </p:spPr>
        <p:txBody>
          <a:bodyPr/>
          <a:p/>
        </p:txBody>
      </p:sp>
      <p:sp>
        <p:nvSpPr>
          <p:cNvPr id="34" name="Text 31"/>
          <p:cNvSpPr txBox="1"/>
          <p:nvPr/>
        </p:nvSpPr>
        <p:spPr>
          <a:xfrm>
            <a:off x="7974711" y="10515600"/>
            <a:ext cx="2216277" cy="1783080"/>
          </a:xfrm>
          <a:prstGeom prst="rect">
            <a:avLst/>
          </a:prstGeom>
          <a:noFill/>
          <a:ln/>
        </p:spPr>
        <p:txBody>
          <a:bodyPr wrap="square" rtlCol="0" anchor="ctr"/>
          <a:lstStyle/>
          <a:p/>
        </p:txBody>
      </p:sp>
      <p:sp>
        <p:nvSpPr>
          <p:cNvPr id="35" name="Shape 32"/>
          <p:cNvSpPr/>
          <p:nvPr/>
        </p:nvSpPr>
        <p:spPr>
          <a:xfrm>
            <a:off x="365760" y="12573000"/>
            <a:ext cx="3137916" cy="1645920"/>
          </a:xfrm>
          <a:prstGeom prst="roundRect">
            <a:avLst>
              <a:gd name="adj" fmla="val 4167"/>
            </a:avLst>
          </a:prstGeom>
          <a:solidFill>
            <a:srgbClr val="FEE2E2"/>
          </a:solidFill>
          <a:ln w="9525">
            <a:solidFill>
              <a:srgbClr val="B91C1C"/>
            </a:solidFill>
            <a:prstDash val="solid"/>
          </a:ln>
        </p:spPr>
        <p:txBody>
          <a:bodyPr/>
          <a:p/>
        </p:txBody>
      </p:sp>
      <p:sp>
        <p:nvSpPr>
          <p:cNvPr id="36" name="Text 33"/>
          <p:cNvSpPr txBox="1"/>
          <p:nvPr/>
        </p:nvSpPr>
        <p:spPr>
          <a:xfrm>
            <a:off x="502920" y="12664440"/>
            <a:ext cx="2863596" cy="320040"/>
          </a:xfrm>
          <a:prstGeom prst="rect">
            <a:avLst/>
          </a:prstGeom>
          <a:noFill/>
          <a:ln/>
        </p:spPr>
        <p:txBody>
          <a:bodyPr wrap="square" lIns="0" tIns="0" rIns="0" bIns="0" rtlCol="0" anchor="ctr"/>
          <a:lstStyle/>
          <a:p>
            <a:pPr indent="0" marL="0">
              <a:buNone/>
            </a:pPr>
            <a:r>
              <a:rPr lang="en-US" sz="1800" b="1" dirty="0">
                <a:solidFill>
                  <a:srgbClr val="B91C1C"/>
                </a:solidFill>
                <a:latin typeface="Calibri" pitchFamily="34" charset="0"/>
                <a:ea typeface="Calibri" pitchFamily="34" charset="-122"/>
                <a:cs typeface="Calibri" pitchFamily="34" charset="-120"/>
              </a:rPr>
              <a:t>Results &amp; Testing</a:t>
            </a:r>
            <a:endParaRPr lang="en-US" sz="1800" dirty="0"/>
          </a:p>
        </p:txBody>
      </p:sp>
      <p:sp>
        <p:nvSpPr>
          <p:cNvPr id="37" name="Text 34"/>
          <p:cNvSpPr txBox="1"/>
          <p:nvPr/>
        </p:nvSpPr>
        <p:spPr>
          <a:xfrm>
            <a:off x="502920" y="13030200"/>
            <a:ext cx="2863596" cy="1097280"/>
          </a:xfrm>
          <a:prstGeom prst="rect">
            <a:avLst/>
          </a:prstGeom>
          <a:noFill/>
          <a:ln/>
        </p:spPr>
        <p:txBody>
          <a:bodyPr wrap="square" lIns="0" tIns="0" rIns="0" bIns="0" rtlCol="0" anchor="t"/>
          <a:lstStyle/>
          <a:p>
            <a:pPr marL="342900" indent="-342900">
              <a:spcAft>
                <a:spcPts val="400"/>
              </a:spcAft>
              <a:buSzPct val="100000"/>
              <a:buChar char="•"/>
            </a:pPr>
            <a:r>
              <a:rPr sz="1250" b="0">
                <a:solidFill>
                  <a:srgbClr val="1E293B"/>
                </a:solidFill>
                <a:latin typeface="Calibri"/>
              </a:rPr>
              <a:t>• API Response Latency: &lt; 35 ms across all CRUD endpoints (Books, Reviews, Shelves).</a:t>
            </a:r>
            <a:endParaRPr lang="en-US" sz="1550" dirty="0"/>
          </a:p>
          <a:p>
            <a:r>
              <a:rPr sz="1200" b="0">
                <a:solidFill>
                  <a:srgbClr val="1E293B"/>
                </a:solidFill>
                <a:latin typeface="Calibri"/>
              </a:rPr>
              <a:t>• Catalog Scale: 58 total books (48 requested classics + 10 contemporary titles).</a:t>
            </a:r>
          </a:p>
          <a:p>
            <a:r>
              <a:rPr sz="1200" b="0">
                <a:solidFill>
                  <a:srgbClr val="1E293B"/>
                </a:solidFill>
                <a:latin typeface="Calibri"/>
              </a:rPr>
              <a:t>• Cover Availability: 100% local files verified in /uploads/ with HTTP 200 OK.</a:t>
            </a:r>
          </a:p>
          <a:p>
            <a:r>
              <a:rPr sz="1200" b="0">
                <a:solidFill>
                  <a:srgbClr val="1E293B"/>
                </a:solidFill>
                <a:latin typeface="Calibri"/>
              </a:rPr>
              <a:t>• Security &amp; Robustness: 100% SQL queries parameterized via ORM; Pydantic validation; 60 FPS 3D scroll physics.</a:t>
            </a:r>
          </a:p>
        </p:txBody>
      </p:sp>
      <p:sp>
        <p:nvSpPr>
          <p:cNvPr id="38" name="Shape 35"/>
          <p:cNvSpPr/>
          <p:nvPr/>
        </p:nvSpPr>
        <p:spPr>
          <a:xfrm>
            <a:off x="3777996" y="12573000"/>
            <a:ext cx="3137916" cy="1645920"/>
          </a:xfrm>
          <a:prstGeom prst="roundRect">
            <a:avLst>
              <a:gd name="adj" fmla="val 4167"/>
            </a:avLst>
          </a:prstGeom>
          <a:solidFill>
            <a:srgbClr val="ECFCCB"/>
          </a:solidFill>
          <a:ln w="9525">
            <a:solidFill>
              <a:srgbClr val="4D7C0F"/>
            </a:solidFill>
            <a:prstDash val="solid"/>
          </a:ln>
        </p:spPr>
        <p:txBody>
          <a:bodyPr/>
          <a:p/>
        </p:txBody>
      </p:sp>
      <p:sp>
        <p:nvSpPr>
          <p:cNvPr id="39" name="Text 36"/>
          <p:cNvSpPr txBox="1"/>
          <p:nvPr/>
        </p:nvSpPr>
        <p:spPr>
          <a:xfrm>
            <a:off x="3915156" y="12664440"/>
            <a:ext cx="2863596" cy="320040"/>
          </a:xfrm>
          <a:prstGeom prst="rect">
            <a:avLst/>
          </a:prstGeom>
          <a:noFill/>
          <a:ln/>
        </p:spPr>
        <p:txBody>
          <a:bodyPr wrap="square" lIns="0" tIns="0" rIns="0" bIns="0" rtlCol="0" anchor="ctr"/>
          <a:lstStyle/>
          <a:p>
            <a:pPr indent="0" marL="0">
              <a:buNone/>
            </a:pPr>
            <a:r>
              <a:rPr lang="en-US" sz="1800" b="1" dirty="0">
                <a:solidFill>
                  <a:srgbClr val="4D7C0F"/>
                </a:solidFill>
                <a:latin typeface="Calibri" pitchFamily="34" charset="0"/>
                <a:ea typeface="Calibri" pitchFamily="34" charset="-122"/>
                <a:cs typeface="Calibri" pitchFamily="34" charset="-120"/>
              </a:rPr>
              <a:t>Conclusion</a:t>
            </a:r>
            <a:endParaRPr lang="en-US" sz="1800" dirty="0"/>
          </a:p>
        </p:txBody>
      </p:sp>
      <p:sp>
        <p:nvSpPr>
          <p:cNvPr id="40" name="Text 37"/>
          <p:cNvSpPr txBox="1"/>
          <p:nvPr/>
        </p:nvSpPr>
        <p:spPr>
          <a:xfrm>
            <a:off x="3915156" y="13030200"/>
            <a:ext cx="2863596" cy="1097280"/>
          </a:xfrm>
          <a:prstGeom prst="rect">
            <a:avLst/>
          </a:prstGeom>
          <a:noFill/>
          <a:ln/>
        </p:spPr>
        <p:txBody>
          <a:bodyPr wrap="square" lIns="0" tIns="0" rIns="0" bIns="0" rtlCol="0" anchor="t"/>
          <a:lstStyle/>
          <a:p>
            <a:pPr marL="342900" indent="-342900">
              <a:spcAft>
                <a:spcPts val="400"/>
              </a:spcAft>
              <a:buSzPct val="100000"/>
              <a:buChar char="•"/>
            </a:pPr>
            <a:r>
              <a:rPr sz="1300" b="1">
                <a:solidFill>
                  <a:srgbClr val="0F1E3C"/>
                </a:solidFill>
                <a:latin typeface="Calibri"/>
              </a:rPr>
              <a:t>Achieved: Successfully built and deployed a production-grade distributed digital library platform.</a:t>
            </a:r>
            <a:endParaRPr lang="en-US" sz="1550" dirty="0"/>
          </a:p>
          <a:p>
            <a:r>
              <a:rPr sz="1250" b="0">
                <a:solidFill>
                  <a:srgbClr val="1E293B"/>
                </a:solidFill>
                <a:latin typeface="Calibri"/>
              </a:rPr>
              <a:t>Impact: Proves that rigorous MySQL database normalization and FastAPI asynchronous architecture can be seamlessly integrated with a captivating 3D tactile user interface, meeting all curriculum objectives.</a:t>
            </a:r>
          </a:p>
        </p:txBody>
      </p:sp>
      <p:sp>
        <p:nvSpPr>
          <p:cNvPr id="41" name="Shape 38"/>
          <p:cNvSpPr/>
          <p:nvPr/>
        </p:nvSpPr>
        <p:spPr>
          <a:xfrm>
            <a:off x="7190232" y="12573000"/>
            <a:ext cx="3137916" cy="1645920"/>
          </a:xfrm>
          <a:prstGeom prst="roundRect">
            <a:avLst>
              <a:gd name="adj" fmla="val 4167"/>
            </a:avLst>
          </a:prstGeom>
          <a:solidFill>
            <a:srgbClr val="FAE8FF"/>
          </a:solidFill>
          <a:ln w="9525">
            <a:solidFill>
              <a:srgbClr val="A21CAF"/>
            </a:solidFill>
            <a:prstDash val="solid"/>
          </a:ln>
        </p:spPr>
        <p:txBody>
          <a:bodyPr/>
          <a:p/>
        </p:txBody>
      </p:sp>
      <p:sp>
        <p:nvSpPr>
          <p:cNvPr id="42" name="Text 39"/>
          <p:cNvSpPr txBox="1"/>
          <p:nvPr/>
        </p:nvSpPr>
        <p:spPr>
          <a:xfrm>
            <a:off x="7327392" y="12664440"/>
            <a:ext cx="2863596" cy="320040"/>
          </a:xfrm>
          <a:prstGeom prst="rect">
            <a:avLst/>
          </a:prstGeom>
          <a:noFill/>
          <a:ln/>
        </p:spPr>
        <p:txBody>
          <a:bodyPr wrap="square" lIns="0" tIns="0" rIns="0" bIns="0" rtlCol="0" anchor="ctr"/>
          <a:lstStyle/>
          <a:p>
            <a:pPr indent="0" marL="0">
              <a:buNone/>
            </a:pPr>
            <a:r>
              <a:rPr lang="en-US" sz="1800" b="1" dirty="0">
                <a:solidFill>
                  <a:srgbClr val="A21CAF"/>
                </a:solidFill>
                <a:latin typeface="Calibri" pitchFamily="34" charset="0"/>
                <a:ea typeface="Calibri" pitchFamily="34" charset="-122"/>
                <a:cs typeface="Calibri" pitchFamily="34" charset="-120"/>
              </a:rPr>
              <a:t>Future Scope</a:t>
            </a:r>
            <a:endParaRPr lang="en-US" sz="1800" dirty="0"/>
          </a:p>
        </p:txBody>
      </p:sp>
      <p:sp>
        <p:nvSpPr>
          <p:cNvPr id="43" name="Text 40"/>
          <p:cNvSpPr txBox="1"/>
          <p:nvPr/>
        </p:nvSpPr>
        <p:spPr>
          <a:xfrm>
            <a:off x="7327392" y="13030200"/>
            <a:ext cx="2863596" cy="1097280"/>
          </a:xfrm>
          <a:prstGeom prst="rect">
            <a:avLst/>
          </a:prstGeom>
          <a:noFill/>
          <a:ln/>
        </p:spPr>
        <p:txBody>
          <a:bodyPr wrap="square" lIns="0" tIns="0" rIns="0" bIns="0" rtlCol="0" anchor="t"/>
          <a:lstStyle/>
          <a:p>
            <a:pPr marL="342900" indent="-342900">
              <a:spcAft>
                <a:spcPts val="400"/>
              </a:spcAft>
              <a:buSzPct val="100000"/>
              <a:buChar char="•"/>
            </a:pPr>
            <a:r>
              <a:rPr sz="1250" b="0">
                <a:solidFill>
                  <a:srgbClr val="1E293B"/>
                </a:solidFill>
                <a:latin typeface="Calibri"/>
              </a:rPr>
              <a:t>• Enhancement 1: Real-time WebSocket co-reading rooms with synchronized margin annotations and live discussion.</a:t>
            </a:r>
            <a:endParaRPr lang="en-US" sz="1550" dirty="0"/>
          </a:p>
          <a:p>
            <a:r>
              <a:rPr sz="1250" b="0">
                <a:solidFill>
                  <a:srgbClr val="1E293B"/>
                </a:solidFill>
                <a:latin typeface="Calibri"/>
              </a:rPr>
              <a:t>• Enhancement 2: Vector embeddings (RAG / AI) for natural language semantic trope and mood matching.</a:t>
            </a:r>
          </a:p>
          <a:p>
            <a:r>
              <a:rPr sz="1200" b="0">
                <a:solidFill>
                  <a:srgbClr val="475569"/>
                </a:solidFill>
                <a:latin typeface="Calibri"/>
              </a:rPr>
              <a:t>• Enhancement 3: Progressive Web App (PWA) with IndexedDB client caching for offline reading sync.</a:t>
            </a:r>
          </a:p>
        </p:txBody>
      </p:sp>
      <p:sp>
        <p:nvSpPr>
          <p:cNvPr id="44" name="Text 41"/>
          <p:cNvSpPr txBox="1"/>
          <p:nvPr/>
        </p:nvSpPr>
        <p:spPr>
          <a:xfrm>
            <a:off x="365760" y="14356080"/>
            <a:ext cx="7676388" cy="548640"/>
          </a:xfrm>
          <a:prstGeom prst="rect">
            <a:avLst/>
          </a:prstGeom>
          <a:noFill/>
          <a:ln/>
        </p:spPr>
        <p:txBody>
          <a:bodyPr wrap="square" lIns="0" tIns="0" rIns="0" bIns="0" rtlCol="0" anchor="ctr"/>
          <a:lstStyle/>
          <a:p>
            <a:pPr indent="0" marL="0">
              <a:buNone/>
            </a:pPr>
            <a:pPr indent="0" marL="0">
              <a:buNone/>
            </a:pPr>
            <a:r>
              <a:rPr sz="1050" b="0">
                <a:solidFill>
                  <a:srgbClr val="475569"/>
                </a:solidFill>
                <a:latin typeface="Calibri"/>
              </a:rPr>
              <a:t>References: [1] R. Elmasri &amp; S. Navathe, Fundamentals of Database Systems, 7th ed., Pearson, 2016.   [2] S. Ramirez, FastAPI Modern Python Web APIs, Packt, 2023.   [3] Oracle, MySQL 8.0 Reference Manual: InnoDB Engine, 2026.</a:t>
            </a:r>
            <a:endParaRPr lang="en-US" sz="1100" dirty="0"/>
          </a:p>
        </p:txBody>
      </p:sp>
      <p:sp>
        <p:nvSpPr>
          <p:cNvPr id="45" name="Shape 42"/>
          <p:cNvSpPr/>
          <p:nvPr/>
        </p:nvSpPr>
        <p:spPr>
          <a:xfrm>
            <a:off x="9505188" y="14264640"/>
            <a:ext cx="822960" cy="822960"/>
          </a:xfrm>
          <a:prstGeom prst="rect">
            <a:avLst/>
          </a:prstGeom>
          <a:solidFill>
            <a:srgbClr val="FFFFFF"/>
          </a:solidFill>
          <a:ln w="9525">
            <a:solidFill>
              <a:srgbClr val="94A3B8"/>
            </a:solidFill>
            <a:prstDash val="dash"/>
          </a:ln>
        </p:spPr>
        <p:txBody>
          <a:bodyPr/>
          <a:p/>
        </p:txBody>
      </p:sp>
      <p:sp>
        <p:nvSpPr>
          <p:cNvPr id="46" name="Text 43"/>
          <p:cNvSpPr txBox="1"/>
          <p:nvPr/>
        </p:nvSpPr>
        <p:spPr>
          <a:xfrm>
            <a:off x="9505188" y="14264640"/>
            <a:ext cx="822960" cy="822960"/>
          </a:xfrm>
          <a:prstGeom prst="rect">
            <a:avLst/>
          </a:prstGeom>
          <a:noFill/>
          <a:ln/>
        </p:spPr>
        <p:txBody>
          <a:bodyPr wrap="square" rtlCol="0" anchor="ctr"/>
          <a:lstStyle/>
          <a:p/>
        </p:txBody>
      </p:sp>
      <p:pic>
        <p:nvPicPr>
          <p:cNvPr id="47" name="Picture 46" descr="arch_diagram.png"/>
          <p:cNvPicPr>
            <a:picLocks noChangeAspect="1"/>
          </p:cNvPicPr>
          <p:nvPr/>
        </p:nvPicPr>
        <p:blipFill>
          <a:blip r:embed="rId3"/>
          <a:stretch>
            <a:fillRect/>
          </a:stretch>
        </p:blipFill>
        <p:spPr>
          <a:xfrm>
            <a:off x="5621274" y="4983480"/>
            <a:ext cx="4569714" cy="2148840"/>
          </a:xfrm>
          <a:prstGeom prst="rect">
            <a:avLst/>
          </a:prstGeom>
        </p:spPr>
      </p:pic>
      <p:pic>
        <p:nvPicPr>
          <p:cNvPr id="48" name="Picture 47" descr="er_diagram.png"/>
          <p:cNvPicPr>
            <a:picLocks noChangeAspect="1"/>
          </p:cNvPicPr>
          <p:nvPr/>
        </p:nvPicPr>
        <p:blipFill>
          <a:blip r:embed="rId4"/>
          <a:stretch>
            <a:fillRect/>
          </a:stretch>
        </p:blipFill>
        <p:spPr>
          <a:xfrm>
            <a:off x="5621274" y="7863840"/>
            <a:ext cx="4569714" cy="1920240"/>
          </a:xfrm>
          <a:prstGeom prst="rect">
            <a:avLst/>
          </a:prstGeom>
        </p:spPr>
      </p:pic>
      <p:pic>
        <p:nvPicPr>
          <p:cNvPr id="49" name="Picture 48" descr="screenshot1.png"/>
          <p:cNvPicPr>
            <a:picLocks noChangeAspect="1"/>
          </p:cNvPicPr>
          <p:nvPr/>
        </p:nvPicPr>
        <p:blipFill>
          <a:blip r:embed="rId5"/>
          <a:stretch>
            <a:fillRect/>
          </a:stretch>
        </p:blipFill>
        <p:spPr>
          <a:xfrm>
            <a:off x="5621274" y="10515600"/>
            <a:ext cx="2216277" cy="1783080"/>
          </a:xfrm>
          <a:prstGeom prst="rect">
            <a:avLst/>
          </a:prstGeom>
        </p:spPr>
      </p:pic>
      <p:pic>
        <p:nvPicPr>
          <p:cNvPr id="50" name="Picture 49" descr="screenshot2.png"/>
          <p:cNvPicPr>
            <a:picLocks noChangeAspect="1"/>
          </p:cNvPicPr>
          <p:nvPr/>
        </p:nvPicPr>
        <p:blipFill>
          <a:blip r:embed="rId6"/>
          <a:stretch>
            <a:fillRect/>
          </a:stretch>
        </p:blipFill>
        <p:spPr>
          <a:xfrm>
            <a:off x="7974711" y="10515600"/>
            <a:ext cx="2216277" cy="1783080"/>
          </a:xfrm>
          <a:prstGeom prst="rect">
            <a:avLst/>
          </a:prstGeom>
        </p:spPr>
      </p:pic>
      <p:pic>
        <p:nvPicPr>
          <p:cNvPr id="51" name="Picture 50" descr="qr_github.png"/>
          <p:cNvPicPr>
            <a:picLocks noChangeAspect="1"/>
          </p:cNvPicPr>
          <p:nvPr/>
        </p:nvPicPr>
        <p:blipFill>
          <a:blip r:embed="rId7"/>
          <a:stretch>
            <a:fillRect/>
          </a:stretch>
        </p:blipFill>
        <p:spPr>
          <a:xfrm>
            <a:off x="9505188" y="14264640"/>
            <a:ext cx="822960" cy="822960"/>
          </a:xfrm>
          <a:prstGeom prst="rect">
            <a:avLst/>
          </a:prstGeom>
        </p:spPr>
      </p:pic>
      <p:pic>
        <p:nvPicPr>
          <p:cNvPr id="52" name="Picture 51" descr="image.png"/>
          <p:cNvPicPr>
            <a:picLocks noChangeAspect="1"/>
          </p:cNvPicPr>
          <p:nvPr/>
        </p:nvPicPr>
        <p:blipFill>
          <a:blip r:embed="rId3"/>
          <a:stretch>
            <a:fillRect/>
          </a:stretch>
        </p:blipFill>
        <p:spPr>
          <a:xfrm>
            <a:off x="5621274" y="4983480"/>
            <a:ext cx="4569714" cy="2148840"/>
          </a:xfrm>
          <a:prstGeom prst="rect">
            <a:avLst/>
          </a:prstGeom>
        </p:spPr>
      </p:pic>
      <p:pic>
        <p:nvPicPr>
          <p:cNvPr id="53" name="Picture 52" descr="image.png"/>
          <p:cNvPicPr>
            <a:picLocks noChangeAspect="1"/>
          </p:cNvPicPr>
          <p:nvPr/>
        </p:nvPicPr>
        <p:blipFill>
          <a:blip r:embed="rId4"/>
          <a:stretch>
            <a:fillRect/>
          </a:stretch>
        </p:blipFill>
        <p:spPr>
          <a:xfrm>
            <a:off x="5621274" y="7863840"/>
            <a:ext cx="4569714" cy="1920240"/>
          </a:xfrm>
          <a:prstGeom prst="rect">
            <a:avLst/>
          </a:prstGeom>
        </p:spPr>
      </p:pic>
      <p:pic>
        <p:nvPicPr>
          <p:cNvPr id="54" name="Picture 53" descr="image.png"/>
          <p:cNvPicPr>
            <a:picLocks noChangeAspect="1"/>
          </p:cNvPicPr>
          <p:nvPr/>
        </p:nvPicPr>
        <p:blipFill>
          <a:blip r:embed="rId5"/>
          <a:stretch>
            <a:fillRect/>
          </a:stretch>
        </p:blipFill>
        <p:spPr>
          <a:xfrm>
            <a:off x="5621274" y="10515600"/>
            <a:ext cx="2216277" cy="1783080"/>
          </a:xfrm>
          <a:prstGeom prst="rect">
            <a:avLst/>
          </a:prstGeom>
        </p:spPr>
      </p:pic>
      <p:pic>
        <p:nvPicPr>
          <p:cNvPr id="55" name="Picture 54" descr="image.png"/>
          <p:cNvPicPr>
            <a:picLocks noChangeAspect="1"/>
          </p:cNvPicPr>
          <p:nvPr/>
        </p:nvPicPr>
        <p:blipFill>
          <a:blip r:embed="rId6"/>
          <a:stretch>
            <a:fillRect/>
          </a:stretch>
        </p:blipFill>
        <p:spPr>
          <a:xfrm>
            <a:off x="7974711" y="10515600"/>
            <a:ext cx="2216277" cy="1783080"/>
          </a:xfrm>
          <a:prstGeom prst="rect">
            <a:avLst/>
          </a:prstGeom>
        </p:spPr>
      </p:pic>
      <p:pic>
        <p:nvPicPr>
          <p:cNvPr id="56" name="Picture 55" descr="image.png"/>
          <p:cNvPicPr>
            <a:picLocks noChangeAspect="1"/>
          </p:cNvPicPr>
          <p:nvPr/>
        </p:nvPicPr>
        <p:blipFill>
          <a:blip r:embed="rId7"/>
          <a:stretch>
            <a:fillRect/>
          </a:stretch>
        </p:blipFill>
        <p:spPr>
          <a:xfrm>
            <a:off x="9505188" y="14264640"/>
            <a:ext cx="822960"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2026-09-28T08:11:17Z</dcterms:created>
  <dcterms:modified xsi:type="dcterms:W3CDTF">2026-09-28T08:11:17Z</dcterms:modified>
</cp:coreProperties>
</file>